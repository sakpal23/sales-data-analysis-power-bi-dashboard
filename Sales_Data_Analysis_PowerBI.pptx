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VYJ5dD6+iKvOiJFl/5u0QQ==" hashData="b8rfKmFZ6R9tGHkwT4ESFJbOTPkf/AJsnAnIYzqZXVdFQs2jGZ0T2ZBfDofn2BfXHSmpjMlp3IdK+8gcYXFLCw=="/>
  <p:extLst>
    <p:ext uri="{521415D9-36F7-43E2-AB2F-B90AF26B5E84}">
      <p14:sectionLst xmlns:p14="http://schemas.microsoft.com/office/powerpoint/2010/main">
        <p14:section name="Intro" id="{9AA77B70-EE0A-3D6B-AD2E-8532E8BAD9CA}">
          <p14:sldIdLst>
            <p14:sldId id="256"/>
          </p14:sldIdLst>
        </p14:section>
        <p14:section name="Project" id="{19D16F6D-21CC-3B8D-AFD9-B781287795BD}">
          <p14:sldIdLst>
            <p14:sldId id="257"/>
            <p14:sldId id="258"/>
            <p14:sldId id="259"/>
          </p14:sldIdLst>
        </p14:section>
        <p14:section name="Dashboard" id="{6689A867-9976-3874-D0CD-685063203CDC}">
          <p14:sldIdLst>
            <p14:sldId id="260"/>
            <p14:sldId id="261"/>
            <p14:sldId id="262"/>
          </p14:sldIdLst>
        </p14:section>
        <p14:section name="End" id="{41FC111C-6B76-4025-7CC8-83BC92A51FA2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0FA"/>
    <a:srgbClr val="6977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70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in one line, then say what the report answers: what sells, what earns profit, where, and how promotions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point is: one report, five pages, each page answers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dotted line: that is the inactive relationship to Date_Table2.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USERELATIONSHIP in one sentence: it turns on the inactive link to Date_Table2 for that measure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1: electronics lead sales and profit, personal-care items sit at the bottom. Page 2: bubbles show sales by 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Edit Interaction turns off cross-filtering so each slider only affects its own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is for checking the detail behind any number on the other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github.com/Sakpal2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github.com/Sakpal2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A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" name="Circle B"/>
          <p:cNvSpPr/>
          <p:nvPr/>
        </p:nvSpPr>
        <p:spPr>
          <a:xfrm>
            <a:off x="5852160" y="2377440"/>
            <a:ext cx="1554480" cy="155448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48640" y="1371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Data Analysis</a:t>
            </a:r>
            <a:endParaRPr lang="en-US" sz="44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4231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 5-page Power BI report on sales, profit, products, promotions and cities</a:t>
            </a:r>
            <a:endParaRPr lang="en-US" sz="1800" dirty="0"/>
          </a:p>
        </p:txBody>
      </p:sp>
      <p:sp>
        <p:nvSpPr>
          <p:cNvPr id="6" name="Author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2"/>
                </a:solidFill>
              </a:rPr>
              <a:t>Umesh Sakpal  |  Power BI Developer | </a:t>
            </a:r>
            <a:r>
              <a:rPr lang="en-US" sz="1400" dirty="0">
                <a:solidFill>
                  <a:schemeClr val="bg2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github.com/Sakpal23</a:t>
            </a:r>
            <a:endParaRPr 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does</a:t>
            </a:r>
            <a:endParaRPr lang="en-US" sz="3000" dirty="0"/>
          </a:p>
        </p:txBody>
      </p:sp>
      <p:sp>
        <p:nvSpPr>
          <p:cNvPr id="3" name="Purpose list"/>
          <p:cNvSpPr txBox="1"/>
          <p:nvPr/>
        </p:nvSpPr>
        <p:spPr>
          <a:xfrm>
            <a:off x="457200" y="118872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Shows how sales, profit and units sold move over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Ranks the best and worst products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Maps sales by city and checks how promotions affect discounts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Lets you compare two date ranges side by side</a:t>
            </a:r>
            <a:endParaRPr lang="en-US" sz="1600" dirty="0"/>
          </a:p>
        </p:txBody>
      </p:sp>
      <p:sp>
        <p:nvSpPr>
          <p:cNvPr id="4" name="Tools line"/>
          <p:cNvSpPr txBox="1"/>
          <p:nvPr/>
        </p:nvSpPr>
        <p:spPr>
          <a:xfrm>
            <a:off x="45720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Built with Power BI, Power Query and DAX</a:t>
            </a:r>
            <a:endParaRPr lang="en-US" sz="1400" dirty="0"/>
          </a:p>
        </p:txBody>
      </p:sp>
      <p:sp>
        <p:nvSpPr>
          <p:cNvPr id="5" name="Stat card 1"/>
          <p:cNvSpPr/>
          <p:nvPr/>
        </p:nvSpPr>
        <p:spPr>
          <a:xfrm>
            <a:off x="5120640" y="118872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value 1"/>
          <p:cNvSpPr txBox="1"/>
          <p:nvPr/>
        </p:nvSpPr>
        <p:spPr>
          <a:xfrm>
            <a:off x="512064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7" name="Stat label 1"/>
          <p:cNvSpPr txBox="1"/>
          <p:nvPr/>
        </p:nvSpPr>
        <p:spPr>
          <a:xfrm>
            <a:off x="512064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report pages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6949440" y="118872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 value 2"/>
          <p:cNvSpPr txBox="1"/>
          <p:nvPr/>
        </p:nvSpPr>
        <p:spPr>
          <a:xfrm>
            <a:off x="694944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3.51K</a:t>
            </a:r>
            <a:endParaRPr lang="en-US" sz="3400" dirty="0"/>
          </a:p>
        </p:txBody>
      </p:sp>
      <p:sp>
        <p:nvSpPr>
          <p:cNvPr id="10" name="Stat label 2"/>
          <p:cNvSpPr txBox="1"/>
          <p:nvPr/>
        </p:nvSpPr>
        <p:spPr>
          <a:xfrm>
            <a:off x="694944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orders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5120640" y="278892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value 3"/>
          <p:cNvSpPr txBox="1"/>
          <p:nvPr/>
        </p:nvSpPr>
        <p:spPr>
          <a:xfrm>
            <a:off x="5120640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2020-2024</a:t>
            </a:r>
            <a:endParaRPr lang="en-US" sz="2200" dirty="0"/>
          </a:p>
        </p:txBody>
      </p:sp>
      <p:sp>
        <p:nvSpPr>
          <p:cNvPr id="13" name="Stat label 3"/>
          <p:cNvSpPr txBox="1"/>
          <p:nvPr/>
        </p:nvSpPr>
        <p:spPr>
          <a:xfrm>
            <a:off x="512064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date range</a:t>
            </a:r>
            <a:endParaRPr lang="en-US" sz="1400" dirty="0"/>
          </a:p>
        </p:txBody>
      </p:sp>
      <p:sp>
        <p:nvSpPr>
          <p:cNvPr id="14" name="Stat card 4"/>
          <p:cNvSpPr/>
          <p:nvPr/>
        </p:nvSpPr>
        <p:spPr>
          <a:xfrm>
            <a:off x="6949440" y="2788920"/>
            <a:ext cx="1691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tat value 4"/>
          <p:cNvSpPr txBox="1"/>
          <p:nvPr/>
        </p:nvSpPr>
        <p:spPr>
          <a:xfrm>
            <a:off x="6949440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6" name="Stat label 4"/>
          <p:cNvSpPr txBox="1"/>
          <p:nvPr/>
        </p:nvSpPr>
        <p:spPr>
          <a:xfrm>
            <a:off x="6949440" y="3657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tables in model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3" name="Data model screenshot frame"/>
          <p:cNvSpPr/>
          <p:nvPr/>
        </p:nvSpPr>
        <p:spPr>
          <a:xfrm>
            <a:off x="429768" y="1313226"/>
            <a:ext cx="5266944" cy="27685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Data model screenshot" descr="Power BI model view: Fact_Table linked to Dim Customers, Dim Product, Dim Promotion and two date tab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0658"/>
            <a:ext cx="5212080" cy="2713644"/>
          </a:xfrm>
          <a:prstGeom prst="rect">
            <a:avLst/>
          </a:prstGeom>
        </p:spPr>
      </p:pic>
      <p:sp>
        <p:nvSpPr>
          <p:cNvPr id="5" name="Model notes"/>
          <p:cNvSpPr txBox="1"/>
          <p:nvPr/>
        </p:nvSpPr>
        <p:spPr>
          <a:xfrm>
            <a:off x="5943600" y="118872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Star schema: </a:t>
            </a:r>
            <a:r>
              <a:rPr lang="en-US" sz="1400" dirty="0">
                <a:solidFill>
                  <a:schemeClr val="tx1"/>
                </a:solidFill>
              </a:rPr>
              <a:t>one Fact_Table, three lookup tables (customer, product, promotion)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Two date tables: </a:t>
            </a:r>
            <a:r>
              <a:rPr lang="en-US" sz="1400" dirty="0">
                <a:solidFill>
                  <a:schemeClr val="tx1"/>
                </a:solidFill>
              </a:rPr>
              <a:t>Date_Table1 is active, Date_Table2 is switched on only inside DAX for comparisons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Measures Table: </a:t>
            </a:r>
            <a:r>
              <a:rPr lang="en-US" sz="1400" dirty="0">
                <a:solidFill>
                  <a:schemeClr val="tx1"/>
                </a:solidFill>
              </a:rPr>
              <a:t>keeps all DAX measures in one place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 and DAX</a:t>
            </a:r>
            <a:endParaRPr lang="en-US" sz="3000" dirty="0"/>
          </a:p>
        </p:txBody>
      </p:sp>
      <p:sp>
        <p:nvSpPr>
          <p:cNvPr id="3" name="Power Query card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Q heading"/>
          <p:cNvSpPr txBox="1"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Power Query</a:t>
            </a:r>
            <a:endParaRPr lang="en-US" sz="2000" dirty="0"/>
          </a:p>
        </p:txBody>
      </p:sp>
      <p:sp>
        <p:nvSpPr>
          <p:cNvPr id="5" name="PQ list"/>
          <p:cNvSpPr txBox="1"/>
          <p:nvPr/>
        </p:nvSpPr>
        <p:spPr>
          <a:xfrm>
            <a:off x="685800" y="18288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Removed null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Merged queries to join data from different 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Other cleaning and shaping steps to get the model ready</a:t>
            </a:r>
            <a:endParaRPr lang="en-US" sz="1400" dirty="0"/>
          </a:p>
        </p:txBody>
      </p:sp>
      <p:sp>
        <p:nvSpPr>
          <p:cNvPr id="6" name="DAX card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AX heading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DAX measures</a:t>
            </a:r>
            <a:endParaRPr lang="en-US" sz="2000" dirty="0"/>
          </a:p>
        </p:txBody>
      </p:sp>
      <p:sp>
        <p:nvSpPr>
          <p:cNvPr id="8" name="DAX list"/>
          <p:cNvSpPr txBox="1"/>
          <p:nvPr/>
        </p:nvSpPr>
        <p:spPr>
          <a:xfrm>
            <a:off x="4892040" y="18288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Sum_Dim: </a:t>
            </a:r>
            <a:r>
              <a:rPr lang="en-US" sz="1400" dirty="0">
                <a:solidFill>
                  <a:schemeClr val="tx1"/>
                </a:solidFill>
              </a:rPr>
              <a:t>total net sales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Sum_Of_Net_Sales: </a:t>
            </a:r>
            <a:r>
              <a:rPr lang="en-US" sz="1400" dirty="0">
                <a:solidFill>
                  <a:schemeClr val="tx1"/>
                </a:solidFill>
              </a:rPr>
              <a:t>net sales for the second date range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Total_Profit: </a:t>
            </a:r>
            <a:r>
              <a:rPr lang="en-US" sz="1400" dirty="0">
                <a:solidFill>
                  <a:schemeClr val="tx1"/>
                </a:solidFill>
              </a:rPr>
              <a:t>profit for the second date range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Quantity_Sold: </a:t>
            </a:r>
            <a:r>
              <a:rPr lang="en-US" sz="1400" dirty="0">
                <a:solidFill>
                  <a:schemeClr val="tx1"/>
                </a:solidFill>
              </a:rPr>
              <a:t>units for the second date range</a:t>
            </a:r>
            <a:endParaRPr lang="en-US" sz="1400" dirty="0"/>
          </a:p>
        </p:txBody>
      </p:sp>
      <p:sp>
        <p:nvSpPr>
          <p:cNvPr id="9" name="DAX note"/>
          <p:cNvSpPr txBox="1"/>
          <p:nvPr/>
        </p:nvSpPr>
        <p:spPr>
          <a:xfrm>
            <a:off x="489204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The last three use ALL(Date_Table1) and USERELATIONSHIP so the second date filter works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1 and 2: products and regions</a:t>
            </a:r>
            <a:endParaRPr lang="en-US" sz="3000" dirty="0"/>
          </a:p>
        </p:txBody>
      </p:sp>
      <p:sp>
        <p:nvSpPr>
          <p:cNvPr id="3" name="Sales Overview screenshot frame"/>
          <p:cNvSpPr/>
          <p:nvPr/>
        </p:nvSpPr>
        <p:spPr>
          <a:xfrm>
            <a:off x="429768" y="1277896"/>
            <a:ext cx="4032504" cy="20162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gion page screenshot frame"/>
          <p:cNvSpPr/>
          <p:nvPr/>
        </p:nvSpPr>
        <p:spPr>
          <a:xfrm>
            <a:off x="4681728" y="1277896"/>
            <a:ext cx="4032504" cy="201620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aption page 1"/>
          <p:cNvSpPr txBox="1"/>
          <p:nvPr/>
        </p:nvSpPr>
        <p:spPr>
          <a:xfrm>
            <a:off x="457200" y="36118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 Overview: </a:t>
            </a:r>
            <a:r>
              <a:rPr lang="en-US" sz="1400" dirty="0">
                <a:solidFill>
                  <a:schemeClr val="tx1"/>
                </a:solidFill>
              </a:rPr>
              <a:t>top and bottom 5 products by sales, profit and units</a:t>
            </a:r>
            <a:endParaRPr lang="en-US" sz="1400" dirty="0"/>
          </a:p>
        </p:txBody>
      </p:sp>
      <p:sp>
        <p:nvSpPr>
          <p:cNvPr id="8" name="Caption page 2"/>
          <p:cNvSpPr txBox="1"/>
          <p:nvPr/>
        </p:nvSpPr>
        <p:spPr>
          <a:xfrm>
            <a:off x="4709160" y="36118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Region-Wise: </a:t>
            </a:r>
            <a:r>
              <a:rPr lang="en-US" sz="1400" dirty="0">
                <a:solidFill>
                  <a:schemeClr val="tx1"/>
                </a:solidFill>
              </a:rPr>
              <a:t>sales trend, city map, order count and average discount by promotion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93C8B8-07BB-27DD-F7AF-0A2B337D4D6B}"/>
              </a:ext>
            </a:extLst>
          </p:cNvPr>
          <p:cNvSpPr/>
          <p:nvPr/>
        </p:nvSpPr>
        <p:spPr>
          <a:xfrm>
            <a:off x="4681728" y="1277896"/>
            <a:ext cx="4032504" cy="201620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6977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3 and 4: compare date ranges</a:t>
            </a:r>
            <a:endParaRPr lang="en-US" sz="3000" dirty="0"/>
          </a:p>
        </p:txBody>
      </p:sp>
      <p:sp>
        <p:nvSpPr>
          <p:cNvPr id="3" name="Comparison page screenshot frame"/>
          <p:cNvSpPr/>
          <p:nvPr/>
        </p:nvSpPr>
        <p:spPr>
          <a:xfrm>
            <a:off x="429768" y="1225212"/>
            <a:ext cx="4032504" cy="2121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omparison page screenshot" descr="Comparison page with two date filters and sales, profit and quantity colum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2644"/>
            <a:ext cx="3977640" cy="2066711"/>
          </a:xfrm>
          <a:prstGeom prst="rect">
            <a:avLst/>
          </a:prstGeom>
        </p:spPr>
      </p:pic>
      <p:sp>
        <p:nvSpPr>
          <p:cNvPr id="5" name="Edit Interaction screenshot frame"/>
          <p:cNvSpPr/>
          <p:nvPr/>
        </p:nvSpPr>
        <p:spPr>
          <a:xfrm>
            <a:off x="4681728" y="1365416"/>
            <a:ext cx="4032504" cy="1841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Edit Interaction screenshot" descr="Edit Interaction page with two date sliders feeding separate sales, profit and quantity ba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92848"/>
            <a:ext cx="3977640" cy="1786303"/>
          </a:xfrm>
          <a:prstGeom prst="rect">
            <a:avLst/>
          </a:prstGeom>
        </p:spPr>
      </p:pic>
      <p:sp>
        <p:nvSpPr>
          <p:cNvPr id="7" name="Caption page 3"/>
          <p:cNvSpPr txBox="1"/>
          <p:nvPr/>
        </p:nvSpPr>
        <p:spPr>
          <a:xfrm>
            <a:off x="457200" y="36118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Comparison: </a:t>
            </a:r>
            <a:r>
              <a:rPr lang="en-US" sz="1400" dirty="0">
                <a:solidFill>
                  <a:schemeClr val="tx1"/>
                </a:solidFill>
              </a:rPr>
              <a:t>pick two date ranges and see sales, profit and units next to each other</a:t>
            </a:r>
            <a:endParaRPr lang="en-US" sz="1400" dirty="0"/>
          </a:p>
        </p:txBody>
      </p:sp>
      <p:sp>
        <p:nvSpPr>
          <p:cNvPr id="8" name="Caption page 4"/>
          <p:cNvSpPr txBox="1"/>
          <p:nvPr/>
        </p:nvSpPr>
        <p:spPr>
          <a:xfrm>
            <a:off x="4709160" y="36118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Edit Interaction: </a:t>
            </a:r>
            <a:r>
              <a:rPr lang="en-US" sz="1400" dirty="0">
                <a:solidFill>
                  <a:schemeClr val="tx1"/>
                </a:solidFill>
              </a:rPr>
              <a:t>each date slider controls only its own set of visuals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5: table and how to use it</a:t>
            </a:r>
            <a:endParaRPr lang="en-US" sz="3000" dirty="0"/>
          </a:p>
        </p:txBody>
      </p:sp>
      <p:sp>
        <p:nvSpPr>
          <p:cNvPr id="3" name="Table visual screenshot frame"/>
          <p:cNvSpPr/>
          <p:nvPr/>
        </p:nvSpPr>
        <p:spPr>
          <a:xfrm>
            <a:off x="429768" y="1419223"/>
            <a:ext cx="5175504" cy="273939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Table visual screenshot" descr="Table Visual page with slicers for date, customer, product and promotion above a detailed order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6655"/>
            <a:ext cx="5120640" cy="2684530"/>
          </a:xfrm>
          <a:prstGeom prst="rect">
            <a:avLst/>
          </a:prstGeom>
        </p:spPr>
      </p:pic>
      <p:sp>
        <p:nvSpPr>
          <p:cNvPr id="5" name="How to use list"/>
          <p:cNvSpPr txBox="1"/>
          <p:nvPr/>
        </p:nvSpPr>
        <p:spPr>
          <a:xfrm>
            <a:off x="5879592" y="2243568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the four slicers: date, customer, product, promotion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order-level sales, discount and profit in the table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 A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" name="Circle B"/>
          <p:cNvSpPr/>
          <p:nvPr/>
        </p:nvSpPr>
        <p:spPr>
          <a:xfrm>
            <a:off x="5852160" y="2377440"/>
            <a:ext cx="1554480" cy="155448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4864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Contact"/>
          <p:cNvSpPr txBox="1"/>
          <p:nvPr/>
        </p:nvSpPr>
        <p:spPr>
          <a:xfrm>
            <a:off x="548640" y="26517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Umesh Sakpal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umeshsakpal14@gmail.com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github.com/Sakpal23</a:t>
            </a:r>
            <a:endParaRPr lang="en-US"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 Analysis">
  <a:themeElements>
    <a:clrScheme name="Sales Analysis">
      <a:dk1>
        <a:srgbClr val="1B1F3B"/>
      </a:dk1>
      <a:lt1>
        <a:srgbClr val="FFFFFF"/>
      </a:lt1>
      <a:dk2>
        <a:srgbClr val="2E3A8C"/>
      </a:dk2>
      <a:lt2>
        <a:srgbClr val="EEF0FA"/>
      </a:lt2>
      <a:accent1>
        <a:srgbClr val="5C6BC0"/>
      </a:accent1>
      <a:accent2>
        <a:srgbClr val="3FB68B"/>
      </a:accent2>
      <a:accent3>
        <a:srgbClr val="E0679B"/>
      </a:accent3>
      <a:accent4>
        <a:srgbClr val="F2A541"/>
      </a:accent4>
      <a:accent5>
        <a:srgbClr val="7E57C2"/>
      </a:accent5>
      <a:accent6>
        <a:srgbClr val="26A6C9"/>
      </a:accent6>
      <a:hlink>
        <a:srgbClr val="2E3A8C"/>
      </a:hlink>
      <a:folHlink>
        <a:srgbClr val="5C6BC0"/>
      </a:folHlink>
    </a:clrScheme>
    <a:fontScheme name="Sales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506</Words>
  <Application>Microsoft Office PowerPoint</Application>
  <PresentationFormat>On-screen Show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Sales Analysis</vt:lpstr>
      <vt:lpstr>PowerPoint Presentation</vt:lpstr>
      <vt:lpstr>What this report does</vt:lpstr>
      <vt:lpstr>Data model</vt:lpstr>
      <vt:lpstr>Data prep and DAX</vt:lpstr>
      <vt:lpstr>Pages 1 and 2: products and regions</vt:lpstr>
      <vt:lpstr>Pages 3 and 4: compare date ranges</vt:lpstr>
      <vt:lpstr>Page 5: table and how to use it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- Power BI</dc:title>
  <dc:subject>PptxGenJS Presentation</dc:subject>
  <dc:creator>Umesh Sakpal</dc:creator>
  <cp:lastModifiedBy>Umesh Sakpal</cp:lastModifiedBy>
  <cp:revision>2</cp:revision>
  <dcterms:created xsi:type="dcterms:W3CDTF">2026-10-26T20:40:16Z</dcterms:created>
  <dcterms:modified xsi:type="dcterms:W3CDTF">2026-10-26T20:55:13Z</dcterms:modified>
</cp:coreProperties>
</file>